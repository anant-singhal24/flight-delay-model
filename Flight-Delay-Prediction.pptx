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7" r:id="rId4"/>
    <p:sldId id="258" r:id="rId5"/>
    <p:sldId id="259" r:id="rId6"/>
    <p:sldId id="260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lice" panose="020B0604020202020204" charset="0"/>
      <p:regular r:id="rId13"/>
    </p:embeddedFont>
    <p:embeddedFont>
      <p:font typeface="Lora" pitchFamily="2" charset="0"/>
      <p:regular r:id="rId14"/>
      <p:bold r:id="rId15"/>
    </p:embeddedFont>
    <p:embeddedFont>
      <p:font typeface="Lora Bold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48:50.7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11T07:49:52.7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376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customXml" Target="../ink/ink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02118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Flight Delay Prediction: Enhancing Air Travel Reliability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6861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presentation focuses on data-driven insights aimed at enhancing operational excellence in air travel by predicting flight delays. We will explore key findings and actionable recommendations.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1270040" y="5512475"/>
            <a:ext cx="2767704" cy="108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Anant Singhal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</a:rPr>
              <a:t>23112015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</a:rPr>
              <a:t>Chemical Engineering(CH1)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93790" y="616446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74A364B-5F2E-FE15-BE87-1D4082D3E61D}"/>
                  </a:ext>
                </a:extLst>
              </p14:cNvPr>
              <p14:cNvContentPartPr/>
              <p14:nvPr/>
            </p14:nvContentPartPr>
            <p14:xfrm>
              <a:off x="685500" y="-939760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74A364B-5F2E-FE15-BE87-1D4082D3E6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6860" y="-94876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4322" y="408623"/>
            <a:ext cx="4136231" cy="462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Next Steps and Appendix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004322" y="1093113"/>
            <a:ext cx="810815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 further details on this project, please consult our comprehensive appendix.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004322" y="1570196"/>
            <a:ext cx="8108156" cy="48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33403" y="2243376"/>
            <a:ext cx="1849874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Detailed Methodology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004322" y="2563297"/>
            <a:ext cx="810815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Explore our data preparation and modeling techniques.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004322" y="3243858"/>
            <a:ext cx="8108156" cy="48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9133403" y="3917037"/>
            <a:ext cx="1849874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Complete EDA Results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004322" y="4236958"/>
            <a:ext cx="810815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Dive into all findings from our exploratory data analysis.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04322" y="4917519"/>
            <a:ext cx="8108156" cy="48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8971121" y="5590699"/>
            <a:ext cx="2174558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Model Comparison Details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004322" y="5910620"/>
            <a:ext cx="810815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the performance of various models considered.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004322" y="6591181"/>
            <a:ext cx="8108156" cy="48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8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8972312" y="7264360"/>
            <a:ext cx="2172057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Implementation Roadmap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004322" y="7584281"/>
            <a:ext cx="8108156" cy="236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85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Understand how these solutions can be integrated.</a:t>
            </a:r>
            <a:endParaRPr lang="en-US" sz="11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F3152F-BB89-AFC8-68D1-B636C460C74A}"/>
              </a:ext>
            </a:extLst>
          </p:cNvPr>
          <p:cNvSpPr/>
          <p:nvPr/>
        </p:nvSpPr>
        <p:spPr>
          <a:xfrm>
            <a:off x="12623800" y="7495579"/>
            <a:ext cx="2006481" cy="734021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869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5359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4578429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4613791"/>
            <a:ext cx="32040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Uncover Hidden Patterns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5104209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Identify recurring trends and key factors contributing to flight delays.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56884" y="45359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955" y="4578429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94000" y="4613791"/>
            <a:ext cx="37410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Develop Predictive Capability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194000" y="5104209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a robust model to estimate flight delay duration in minutes.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62836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6326148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6361509"/>
            <a:ext cx="36586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Generate Actionable Insights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6851928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Formulate data-backed strategic recommendations for airlines.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7456884" y="62836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1955" y="6326148"/>
            <a:ext cx="340162" cy="4252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94000" y="6361509"/>
            <a:ext cx="37359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Prioritize Controllable Delays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8194000" y="685192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Focus on the Operational Adjustability Index for effective interventions.</a:t>
            </a:r>
            <a:endParaRPr lang="en-US" sz="17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911091-36BB-E174-B564-21D7E1D5A37B}"/>
              </a:ext>
            </a:extLst>
          </p:cNvPr>
          <p:cNvSpPr/>
          <p:nvPr/>
        </p:nvSpPr>
        <p:spPr>
          <a:xfrm>
            <a:off x="12649200" y="7416800"/>
            <a:ext cx="1981200" cy="8128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124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1383" y="2577108"/>
            <a:ext cx="4391263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Methodology Overview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383" y="3358634"/>
            <a:ext cx="844868" cy="13450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05201" y="3527584"/>
            <a:ext cx="2112407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Preparation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1605201" y="3892868"/>
            <a:ext cx="12433816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Cleaned dataset with carrier, airport, delay types, and durations.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1605201" y="4264462"/>
            <a:ext cx="12433816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OAI weighted controllable delays 2x higher for deeper analysis.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383" y="4703683"/>
            <a:ext cx="844868" cy="134504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05201" y="4872633"/>
            <a:ext cx="2112407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Exploratory Analysis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605201" y="5237917"/>
            <a:ext cx="12433816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Analyzed delay patterns across carriers, airports, and seasons.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605201" y="5609511"/>
            <a:ext cx="12433816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Identified primary causes and their impact on delays.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383" y="6048732"/>
            <a:ext cx="844868" cy="17166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05201" y="6217682"/>
            <a:ext cx="2112407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Modeling Strategy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1605201" y="6582966"/>
            <a:ext cx="12433816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Developed regression models to predict delay duration per flight.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605201" y="6954560"/>
            <a:ext cx="12433816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Compared Linear Regression, Random Forest, and Gradient Boosting.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605201" y="7326154"/>
            <a:ext cx="12433816" cy="270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Used SHAP values for model interpretability and feature importance.</a:t>
            </a:r>
            <a:endParaRPr lang="en-US" sz="13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902570-6A7E-8B03-F870-1CFEADC36653}"/>
              </a:ext>
            </a:extLst>
          </p:cNvPr>
          <p:cNvSpPr/>
          <p:nvPr/>
        </p:nvSpPr>
        <p:spPr>
          <a:xfrm>
            <a:off x="12712700" y="7596426"/>
            <a:ext cx="1917700" cy="633174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15901"/>
            <a:ext cx="10182225" cy="1761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Exploratory Data Analysis Findings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609600" y="1716642"/>
            <a:ext cx="13227011" cy="1077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analysis revealed distinct trends in flight delays.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09600" y="2528017"/>
            <a:ext cx="6428899" cy="1450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Seasonal Patterns: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Rainy months (July-August) show 24% higher delay rates due to weather.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09600" y="3478132"/>
            <a:ext cx="6428899" cy="3278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Carrier Performance: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Significant variation between carriers (15-45 min average delays).</a:t>
            </a:r>
          </a:p>
          <a:p>
            <a:pPr>
              <a:lnSpc>
                <a:spcPts val="2850"/>
              </a:lnSpc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Airport Congestion: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Top 5 airports account for 30% of all delays.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653920" y="290659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09600" y="5192197"/>
            <a:ext cx="13234631" cy="2372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Primary Delay Causes: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Late Aircraft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Carrier Issues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National Air System: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Weather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Security</a:t>
            </a:r>
            <a:endParaRPr lang="en-US" sz="1750" dirty="0"/>
          </a:p>
          <a:p>
            <a:pPr>
              <a:lnSpc>
                <a:spcPts val="2850"/>
              </a:lnSpc>
            </a:pPr>
            <a:endParaRPr lang="en-US" sz="1750" dirty="0"/>
          </a:p>
          <a:p>
            <a:pPr>
              <a:lnSpc>
                <a:spcPts val="2850"/>
              </a:lnSpc>
            </a:pPr>
            <a:endParaRPr lang="en-US" sz="1750" dirty="0"/>
          </a:p>
          <a:p>
            <a:pPr>
              <a:lnSpc>
                <a:spcPts val="2850"/>
              </a:lnSpc>
            </a:pPr>
            <a:endParaRPr lang="en-US" sz="1750" dirty="0"/>
          </a:p>
          <a:p>
            <a:pPr>
              <a:lnSpc>
                <a:spcPts val="2850"/>
              </a:lnSpc>
            </a:pP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1903" y="4749998"/>
            <a:ext cx="62523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1921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63439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60765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651879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0C3878-2025-0A2C-EF2F-297B6C148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1024296"/>
            <a:ext cx="6146800" cy="71327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94393AC-DAFF-5B6D-8EF2-FE579056B6FE}"/>
                  </a:ext>
                </a:extLst>
              </p14:cNvPr>
              <p14:cNvContentPartPr/>
              <p14:nvPr/>
            </p14:nvContentPartPr>
            <p14:xfrm>
              <a:off x="4431660" y="378416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94393AC-DAFF-5B6D-8EF2-FE579056B6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69020" y="372152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1754" y="551378"/>
            <a:ext cx="5013127" cy="626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endParaRPr lang="en-US" sz="3900" dirty="0"/>
          </a:p>
        </p:txBody>
      </p:sp>
      <p:sp>
        <p:nvSpPr>
          <p:cNvPr id="7" name="Text 1"/>
          <p:cNvSpPr/>
          <p:nvPr/>
        </p:nvSpPr>
        <p:spPr>
          <a:xfrm>
            <a:off x="701754" y="7037427"/>
            <a:ext cx="13226891" cy="641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EF6098-B5A1-FCDA-E840-2F1C6C209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1833" y="22265"/>
            <a:ext cx="5018567" cy="4386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26CB6E-F8E5-95C3-8651-1FED720A9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49" y="4442963"/>
            <a:ext cx="6527951" cy="36907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2D95A4-C9CF-0308-3401-208E923F1E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4408371"/>
            <a:ext cx="3567685" cy="368550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53240B-68E3-2218-5AB0-D5D6D1D091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53" y="27390"/>
            <a:ext cx="9511280" cy="44155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F217FF-3C7C-720D-8B7B-6D2762DA0B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7885" y="4373572"/>
            <a:ext cx="4281962" cy="38295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3408"/>
            <a:ext cx="116434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Flight Delay Classification Model Performance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581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classification model predicts if over 20% of flights for a specific carrier-airport combination will be significantly delayed.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0119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97.88%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900113" y="48419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Accuracy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332333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Overall correct predictions.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125278" y="381011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96.27%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4231719" y="48419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25278" y="533233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Reliability of positive predictions.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456884" y="381011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98.00%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7563326" y="48419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Recall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56884" y="533233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Ability to identify actual delays.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788491" y="3810119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97.13%</a:t>
            </a:r>
            <a:endParaRPr lang="en-US" sz="5850" dirty="0"/>
          </a:p>
        </p:txBody>
      </p:sp>
      <p:sp>
        <p:nvSpPr>
          <p:cNvPr id="14" name="Text 12"/>
          <p:cNvSpPr/>
          <p:nvPr/>
        </p:nvSpPr>
        <p:spPr>
          <a:xfrm>
            <a:off x="10894933" y="48419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F1-score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788491" y="533233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Balanced model performance.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6313289"/>
            <a:ext cx="13042821" cy="13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These strong metrics confirm the model's reliability, enabling proactive operational adjustments for airlines.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/>
              <a:t>We have used here SMOTE Data Balancing Technique.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D48458-991E-7ABC-F75E-AB13D4FE5064}"/>
              </a:ext>
            </a:extLst>
          </p:cNvPr>
          <p:cNvSpPr/>
          <p:nvPr/>
        </p:nvSpPr>
        <p:spPr>
          <a:xfrm>
            <a:off x="12700000" y="7442914"/>
            <a:ext cx="1930400" cy="748427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311"/>
            <a:ext cx="127359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Model Performance: Gradient Boosting Regression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787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Gradient Boosting Regression model accurately predicts total delayed flight minutes.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1011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641.82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1455420" y="48419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MAE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33233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Average error in minutes.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35893" y="381011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1879.13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897523" y="48419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RMSE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533233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Standard deviation of errors.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77995" y="3810119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0.9733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339626" y="48419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R² Score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77995" y="5332333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Variance explained by model.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59503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These strong metrics confirm the model's reliability in predicting total delay duration.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CB5570-F6D4-3487-6FCA-39755C28F308}"/>
              </a:ext>
            </a:extLst>
          </p:cNvPr>
          <p:cNvSpPr/>
          <p:nvPr/>
        </p:nvSpPr>
        <p:spPr>
          <a:xfrm>
            <a:off x="12776200" y="7429500"/>
            <a:ext cx="1854200" cy="748427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939" y="516969"/>
            <a:ext cx="7392710" cy="58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Predicting Average Delay Per Flight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57939" y="1480185"/>
            <a:ext cx="13314521" cy="1639729"/>
          </a:xfrm>
          <a:prstGeom prst="roundRect">
            <a:avLst>
              <a:gd name="adj" fmla="val 172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5559" y="1487805"/>
            <a:ext cx="13299281" cy="541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53440" y="1608177"/>
            <a:ext cx="627006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506891" y="1608177"/>
            <a:ext cx="627006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2.44 minutes per flight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5559" y="2029301"/>
            <a:ext cx="13299281" cy="541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53440" y="2149673"/>
            <a:ext cx="627006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RMSE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506891" y="2149673"/>
            <a:ext cx="627006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6.08 minutes per flight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5559" y="2570798"/>
            <a:ext cx="13299281" cy="541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53440" y="2691170"/>
            <a:ext cx="627006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R² Score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506891" y="2691170"/>
            <a:ext cx="6270069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0.9735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7939" y="3401854"/>
            <a:ext cx="244101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57939" y="3977521"/>
            <a:ext cx="13314521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57939" y="3579496"/>
            <a:ext cx="13314521" cy="797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Our Gradient Boosting Regression model achieved strong predictive accuracy. Key predictive factors indicate where focus should be placed for mitigation.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65558" y="4278274"/>
            <a:ext cx="2704365" cy="55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Predictive Factors: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57939" y="4774817"/>
            <a:ext cx="13314521" cy="1474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Late aircraft delay (2.7x weight)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5559" y="5141291"/>
            <a:ext cx="13306901" cy="1474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Carrier operations (2.1x weight)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7939" y="5435029"/>
            <a:ext cx="13314521" cy="154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Airport congestion (1.8x weight)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7939" y="5801503"/>
            <a:ext cx="13314521" cy="154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350"/>
              </a:lnSpc>
              <a:buSzPct val="100000"/>
              <a:buFontTx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Weather conditions (1.5x weight)</a:t>
            </a:r>
            <a:endParaRPr lang="en-US" sz="14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5559" y="6167977"/>
            <a:ext cx="13306901" cy="1547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Month/season (1.3x weight)</a:t>
            </a:r>
            <a:endParaRPr lang="en-US" sz="1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347C46-0874-F590-E6B1-D8B313739C41}"/>
              </a:ext>
            </a:extLst>
          </p:cNvPr>
          <p:cNvSpPr/>
          <p:nvPr/>
        </p:nvSpPr>
        <p:spPr>
          <a:xfrm>
            <a:off x="12877800" y="7349014"/>
            <a:ext cx="1752600" cy="880586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3156" y="976432"/>
            <a:ext cx="6836926" cy="64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Actionable Recommendations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03156" y="1923693"/>
            <a:ext cx="3752850" cy="3217664"/>
          </a:xfrm>
          <a:prstGeom prst="roundRect">
            <a:avLst>
              <a:gd name="adj" fmla="val 955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6407944" y="2128480"/>
            <a:ext cx="2626043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Schedule Optimization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7944" y="2571274"/>
            <a:ext cx="3343275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Build 15-minute buffer periods for high-risk routes (12% delay reduction potential).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7944" y="3625929"/>
            <a:ext cx="3343275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Adjust winter schedules with 8% longer connection times (20% missed connection reduction).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794" y="1923693"/>
            <a:ext cx="3752850" cy="3217664"/>
          </a:xfrm>
          <a:prstGeom prst="roundRect">
            <a:avLst>
              <a:gd name="adj" fmla="val 955"/>
            </a:avLst>
          </a:prstGeom>
          <a:solidFill>
            <a:srgbClr val="F0EDE6"/>
          </a:solidFill>
          <a:ln/>
        </p:spPr>
      </p:sp>
      <p:sp>
        <p:nvSpPr>
          <p:cNvPr id="9" name="Text 6"/>
          <p:cNvSpPr/>
          <p:nvPr/>
        </p:nvSpPr>
        <p:spPr>
          <a:xfrm>
            <a:off x="10365581" y="2128480"/>
            <a:ext cx="2609374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Resource Management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365581" y="2571274"/>
            <a:ext cx="3343275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 dynamic crew scheduling based on predictive delay factors.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365581" y="3625929"/>
            <a:ext cx="3343275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Position maintenance staff strategically at major hubs during peak hours.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03156" y="5346144"/>
            <a:ext cx="7710487" cy="1907024"/>
          </a:xfrm>
          <a:prstGeom prst="roundRect">
            <a:avLst>
              <a:gd name="adj" fmla="val 1611"/>
            </a:avLst>
          </a:prstGeom>
          <a:solidFill>
            <a:srgbClr val="F0EDE6"/>
          </a:solidFill>
          <a:ln/>
        </p:spPr>
      </p:sp>
      <p:sp>
        <p:nvSpPr>
          <p:cNvPr id="13" name="Text 10"/>
          <p:cNvSpPr/>
          <p:nvPr/>
        </p:nvSpPr>
        <p:spPr>
          <a:xfrm>
            <a:off x="6407944" y="5550932"/>
            <a:ext cx="2875478" cy="31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Communication Strategy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07944" y="5993725"/>
            <a:ext cx="7300913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Develop early notification system triggered by model predictions.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7944" y="6393061"/>
            <a:ext cx="7300913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Implement automated rebooking options for passengers on high-risk flights.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85CA08-4520-E06F-607E-ABAB98823FDA}"/>
              </a:ext>
            </a:extLst>
          </p:cNvPr>
          <p:cNvSpPr/>
          <p:nvPr/>
        </p:nvSpPr>
        <p:spPr>
          <a:xfrm>
            <a:off x="12776200" y="7505700"/>
            <a:ext cx="1765300" cy="6223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615</Words>
  <Application>Microsoft Office PowerPoint</Application>
  <PresentationFormat>Custom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Lora</vt:lpstr>
      <vt:lpstr>Lora Bold</vt:lpstr>
      <vt:lpstr>Arial</vt:lpstr>
      <vt:lpstr>Alice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Anant Singhal</cp:lastModifiedBy>
  <cp:revision>7</cp:revision>
  <dcterms:created xsi:type="dcterms:W3CDTF">2025-06-11T07:29:30Z</dcterms:created>
  <dcterms:modified xsi:type="dcterms:W3CDTF">2025-06-12T08:29:22Z</dcterms:modified>
</cp:coreProperties>
</file>